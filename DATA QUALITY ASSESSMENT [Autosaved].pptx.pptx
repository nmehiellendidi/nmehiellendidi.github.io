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DM Sans" charset="1" panose="00000000000000000000"/>
      <p:regular r:id="rId24"/>
    </p:embeddedFont>
    <p:embeddedFont>
      <p:font typeface="DM Sans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embeddings/oleObject3.bin" Type="http://schemas.openxmlformats.org/officeDocument/2006/relationships/oleObject"/><Relationship Id="rId4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285612" cy="12856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5612" cy="1285657"/>
            </a:xfrm>
            <a:custGeom>
              <a:avLst/>
              <a:gdLst/>
              <a:ahLst/>
              <a:cxnLst/>
              <a:rect r="r" b="b" t="t" l="l"/>
              <a:pathLst>
                <a:path h="1285657" w="2285612">
                  <a:moveTo>
                    <a:pt x="12700" y="0"/>
                  </a:moveTo>
                  <a:lnTo>
                    <a:pt x="2272912" y="0"/>
                  </a:lnTo>
                  <a:cubicBezTo>
                    <a:pt x="2279927" y="0"/>
                    <a:pt x="2285612" y="5686"/>
                    <a:pt x="2285612" y="12700"/>
                  </a:cubicBezTo>
                  <a:lnTo>
                    <a:pt x="2285612" y="1272957"/>
                  </a:lnTo>
                  <a:cubicBezTo>
                    <a:pt x="2285612" y="1279971"/>
                    <a:pt x="2279927" y="1285657"/>
                    <a:pt x="2272912" y="1285657"/>
                  </a:cubicBezTo>
                  <a:lnTo>
                    <a:pt x="12700" y="1285657"/>
                  </a:lnTo>
                  <a:cubicBezTo>
                    <a:pt x="9332" y="1285657"/>
                    <a:pt x="6101" y="1284319"/>
                    <a:pt x="3720" y="1281937"/>
                  </a:cubicBezTo>
                  <a:cubicBezTo>
                    <a:pt x="1338" y="1279556"/>
                    <a:pt x="0" y="1276325"/>
                    <a:pt x="0" y="1272957"/>
                  </a:cubicBez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7468" r="0" b="-3564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2976" y="762781"/>
            <a:ext cx="10407115" cy="890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spc="-225">
                <a:solidFill>
                  <a:srgbClr val="253A52"/>
                </a:solidFill>
                <a:latin typeface="DM Sans"/>
                <a:ea typeface="DM Sans"/>
                <a:cs typeface="DM Sans"/>
                <a:sym typeface="DM Sans"/>
              </a:rPr>
              <a:t>PETROGLOBAL ENERGY VENDOR PERFORMANCE ANALYSIS  </a:t>
            </a:r>
          </a:p>
          <a:p>
            <a:pPr algn="ctr">
              <a:lnSpc>
                <a:spcPts val="8000"/>
              </a:lnSpc>
            </a:pPr>
          </a:p>
          <a:p>
            <a:pPr algn="ctr">
              <a:lnSpc>
                <a:spcPts val="8000"/>
              </a:lnSpc>
            </a:pPr>
            <a:r>
              <a:rPr lang="en-US" sz="8000" spc="-240">
                <a:solidFill>
                  <a:srgbClr val="253A52"/>
                </a:solidFill>
                <a:latin typeface="DM Sans"/>
                <a:ea typeface="DM Sans"/>
                <a:cs typeface="DM Sans"/>
                <a:sym typeface="DM Sans"/>
              </a:rPr>
              <a:t>??BY ??</a:t>
            </a:r>
          </a:p>
          <a:p>
            <a:pPr algn="ctr">
              <a:lnSpc>
                <a:spcPts val="8000"/>
              </a:lnSpc>
            </a:pPr>
          </a:p>
          <a:p>
            <a:pPr algn="ctr">
              <a:lnSpc>
                <a:spcPts val="6399"/>
              </a:lnSpc>
            </a:pPr>
            <a:r>
              <a:rPr lang="en-US" sz="6399" spc="-191">
                <a:solidFill>
                  <a:srgbClr val="253A52"/>
                </a:solidFill>
                <a:latin typeface="DM Sans"/>
                <a:ea typeface="DM Sans"/>
                <a:cs typeface="DM Sans"/>
                <a:sym typeface="DM Sans"/>
              </a:rPr>
              <a:t>NMEHIELLE NDIDI &amp; ELAGAUMA AIMANOSHI</a:t>
            </a:r>
          </a:p>
          <a:p>
            <a:pPr algn="ctr" marL="0" indent="0" lvl="0">
              <a:lnSpc>
                <a:spcPts val="1037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6492"/>
            <a:ext cx="15970139" cy="9734017"/>
            <a:chOff x="0" y="0"/>
            <a:chExt cx="4206127" cy="2563692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206127" cy="2563692"/>
            </a:xfrm>
            <a:custGeom>
              <a:avLst/>
              <a:gdLst/>
              <a:ahLst/>
              <a:cxnLst/>
              <a:rect r="r" b="b" t="t" l="l"/>
              <a:pathLst>
                <a:path h="2563692" w="4206127">
                  <a:moveTo>
                    <a:pt x="14543" y="0"/>
                  </a:moveTo>
                  <a:lnTo>
                    <a:pt x="4191584" y="0"/>
                  </a:lnTo>
                  <a:cubicBezTo>
                    <a:pt x="4199616" y="0"/>
                    <a:pt x="4206127" y="6511"/>
                    <a:pt x="4206127" y="14543"/>
                  </a:cubicBezTo>
                  <a:lnTo>
                    <a:pt x="4206127" y="2549148"/>
                  </a:lnTo>
                  <a:cubicBezTo>
                    <a:pt x="4206127" y="2553005"/>
                    <a:pt x="4204595" y="2556705"/>
                    <a:pt x="4201868" y="2559432"/>
                  </a:cubicBezTo>
                  <a:cubicBezTo>
                    <a:pt x="4199140" y="2562159"/>
                    <a:pt x="4195441" y="2563692"/>
                    <a:pt x="4191584" y="2563692"/>
                  </a:cubicBezTo>
                  <a:lnTo>
                    <a:pt x="14543" y="2563692"/>
                  </a:lnTo>
                  <a:cubicBezTo>
                    <a:pt x="10686" y="2563692"/>
                    <a:pt x="6987" y="2562159"/>
                    <a:pt x="4260" y="2559432"/>
                  </a:cubicBezTo>
                  <a:cubicBezTo>
                    <a:pt x="1532" y="2556705"/>
                    <a:pt x="0" y="2553005"/>
                    <a:pt x="0" y="2549148"/>
                  </a:cubicBezTo>
                  <a:lnTo>
                    <a:pt x="0" y="14543"/>
                  </a:lnTo>
                  <a:cubicBezTo>
                    <a:pt x="0" y="10686"/>
                    <a:pt x="1532" y="6987"/>
                    <a:pt x="4260" y="4260"/>
                  </a:cubicBezTo>
                  <a:cubicBezTo>
                    <a:pt x="6987" y="1532"/>
                    <a:pt x="10686" y="0"/>
                    <a:pt x="145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206127" cy="2582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0"/>
                </a:lnSpc>
              </a:pPr>
            </a:p>
            <a:p>
              <a:pPr algn="ctr">
                <a:lnSpc>
                  <a:spcPts val="2500"/>
                </a:lnSpc>
              </a:pPr>
            </a:p>
            <a:p>
              <a:pPr algn="ctr">
                <a:lnSpc>
                  <a:spcPts val="2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46540" y="1803595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6540" y="2763906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44855" y="526034"/>
            <a:ext cx="9690832" cy="1058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32"/>
              </a:lnSpc>
            </a:pPr>
            <a:r>
              <a:rPr lang="en-US" sz="7932" spc="-23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AGENDA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02233" y="1851622"/>
            <a:ext cx="522670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Project description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2233" y="2718196"/>
            <a:ext cx="5829844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Data Quality assessment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02233" y="3647917"/>
            <a:ext cx="761607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Vendor portfolio key metrics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02233" y="4720512"/>
            <a:ext cx="689694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Spend by vector category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46540" y="3724217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46540" y="4743794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46540" y="5763371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46540" y="6782948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6540" y="7902465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46540" y="8864892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3"/>
                </a:lnTo>
                <a:lnTo>
                  <a:pt x="0" y="629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57954" y="1820596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9" y="0"/>
                </a:lnTo>
                <a:lnTo>
                  <a:pt x="627909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457954" y="2670169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9" y="0"/>
                </a:lnTo>
                <a:lnTo>
                  <a:pt x="627909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457954" y="3724217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9" y="0"/>
                </a:lnTo>
                <a:lnTo>
                  <a:pt x="627909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519489" y="5826015"/>
            <a:ext cx="689694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Regional Vendor Performance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19489" y="6730890"/>
            <a:ext cx="6896943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Contract type performance 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19489" y="7999358"/>
            <a:ext cx="689694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Quality vs Safety compliance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19489" y="8761358"/>
            <a:ext cx="6896943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Quality vs Safety correlation equation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87215" y="1830121"/>
            <a:ext cx="689694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Vendor performance rankings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87215" y="2718196"/>
            <a:ext cx="689694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Quality issues by category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62357" y="3539412"/>
            <a:ext cx="6896943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Does contract size affect quality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62357" y="4720512"/>
            <a:ext cx="6896943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Predicting on time delivery performance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30090" y="6140340"/>
            <a:ext cx="689694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Executive summary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457954" y="4828974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9" y="0"/>
                </a:lnTo>
                <a:lnTo>
                  <a:pt x="627909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457954" y="6058101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9" y="0"/>
                </a:lnTo>
                <a:lnTo>
                  <a:pt x="627909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6828154" y="2118997"/>
          <a:ext cx="3291840" cy="8229600"/>
        </p:xfrm>
        <a:graphic>
          <a:graphicData uri="http://schemas.openxmlformats.org/presentationml/2006/ole">
            <p:oleObj imgW="49276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377182" y="174573"/>
            <a:ext cx="9533637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6500" spc="-195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PROJECT DESCRIPTION</a:t>
            </a:r>
          </a:p>
          <a:p>
            <a:pPr algn="l" marL="0" indent="0" lvl="0">
              <a:lnSpc>
                <a:spcPts val="27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01239" y="1407108"/>
            <a:ext cx="4430117" cy="87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0"/>
              </a:lnSpc>
            </a:pPr>
            <a:r>
              <a:rPr lang="en-US" sz="4000" spc="-120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Legend Table</a:t>
            </a:r>
          </a:p>
          <a:p>
            <a:pPr algn="ctr" marL="0" indent="0" lvl="0">
              <a:lnSpc>
                <a:spcPts val="27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071518"/>
            <a:ext cx="6555819" cy="497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PetroGl</a:t>
            </a:r>
            <a:r>
              <a:rPr lang="en-US" sz="3900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obal Energy, an oil and gas company. The objective of this anylsis is to evaluate vendor reliability, quality, safety compliance, and cost-effectiveness to improve overall vendor performance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45109" y="-74876"/>
            <a:ext cx="18378219" cy="10337748"/>
            <a:chOff x="0" y="0"/>
            <a:chExt cx="2285612" cy="12856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5612" cy="1285657"/>
            </a:xfrm>
            <a:custGeom>
              <a:avLst/>
              <a:gdLst/>
              <a:ahLst/>
              <a:cxnLst/>
              <a:rect r="r" b="b" t="t" l="l"/>
              <a:pathLst>
                <a:path h="1285657" w="2285612">
                  <a:moveTo>
                    <a:pt x="12638" y="0"/>
                  </a:moveTo>
                  <a:lnTo>
                    <a:pt x="2272975" y="0"/>
                  </a:lnTo>
                  <a:cubicBezTo>
                    <a:pt x="2276327" y="0"/>
                    <a:pt x="2279541" y="1331"/>
                    <a:pt x="2281911" y="3701"/>
                  </a:cubicBezTo>
                  <a:cubicBezTo>
                    <a:pt x="2284281" y="6072"/>
                    <a:pt x="2285612" y="9286"/>
                    <a:pt x="2285612" y="12638"/>
                  </a:cubicBezTo>
                  <a:lnTo>
                    <a:pt x="2285612" y="1273019"/>
                  </a:lnTo>
                  <a:cubicBezTo>
                    <a:pt x="2285612" y="1276371"/>
                    <a:pt x="2284281" y="1279585"/>
                    <a:pt x="2281911" y="1281955"/>
                  </a:cubicBezTo>
                  <a:cubicBezTo>
                    <a:pt x="2279541" y="1284326"/>
                    <a:pt x="2276327" y="1285657"/>
                    <a:pt x="2272975" y="1285657"/>
                  </a:cubicBezTo>
                  <a:lnTo>
                    <a:pt x="12638" y="1285657"/>
                  </a:lnTo>
                  <a:cubicBezTo>
                    <a:pt x="9286" y="1285657"/>
                    <a:pt x="6072" y="1284326"/>
                    <a:pt x="3701" y="1281955"/>
                  </a:cubicBezTo>
                  <a:cubicBezTo>
                    <a:pt x="1331" y="1279585"/>
                    <a:pt x="0" y="1276371"/>
                    <a:pt x="0" y="1273019"/>
                  </a:cubicBezTo>
                  <a:lnTo>
                    <a:pt x="0" y="12638"/>
                  </a:lnTo>
                  <a:cubicBezTo>
                    <a:pt x="0" y="9286"/>
                    <a:pt x="1331" y="6072"/>
                    <a:pt x="3701" y="3701"/>
                  </a:cubicBezTo>
                  <a:cubicBezTo>
                    <a:pt x="6072" y="1331"/>
                    <a:pt x="9286" y="0"/>
                    <a:pt x="12638" y="0"/>
                  </a:cubicBezTo>
                  <a:close/>
                </a:path>
              </a:pathLst>
            </a:custGeom>
            <a:blipFill>
              <a:blip r:embed="rId4">
                <a:alphaModFix amt="18000"/>
              </a:blip>
              <a:stretch>
                <a:fillRect l="0" t="-107468" r="0" b="-3564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215" y="8848725"/>
            <a:ext cx="18217785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THE DATA W</a:t>
            </a:r>
            <a:r>
              <a:rPr lang="en-US" sz="3400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AS CLEANED AND STANDARDIZED AS INSTRUCTED AND THE MISSING VALUES WERE INPUTTED USING AVERAGE FUNCTION OF EACH SPECIFIC COLUMN RESULTING IN 220 VENDOR RECORDS.</a:t>
            </a:r>
          </a:p>
          <a:p>
            <a:pPr algn="ctr">
              <a:lnSpc>
                <a:spcPts val="192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35107" y="-53413"/>
            <a:ext cx="18288000" cy="10322609"/>
            <a:chOff x="0" y="0"/>
            <a:chExt cx="2285612" cy="12901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5612" cy="1290107"/>
            </a:xfrm>
            <a:custGeom>
              <a:avLst/>
              <a:gdLst/>
              <a:ahLst/>
              <a:cxnLst/>
              <a:rect r="r" b="b" t="t" l="l"/>
              <a:pathLst>
                <a:path h="1290107" w="2285612">
                  <a:moveTo>
                    <a:pt x="12700" y="0"/>
                  </a:moveTo>
                  <a:lnTo>
                    <a:pt x="2272912" y="0"/>
                  </a:lnTo>
                  <a:cubicBezTo>
                    <a:pt x="2279927" y="0"/>
                    <a:pt x="2285612" y="5686"/>
                    <a:pt x="2285612" y="12700"/>
                  </a:cubicBezTo>
                  <a:lnTo>
                    <a:pt x="2285612" y="1277407"/>
                  </a:lnTo>
                  <a:cubicBezTo>
                    <a:pt x="2285612" y="1284421"/>
                    <a:pt x="2279927" y="1290107"/>
                    <a:pt x="2272912" y="1290107"/>
                  </a:cubicBezTo>
                  <a:lnTo>
                    <a:pt x="12700" y="1290107"/>
                  </a:lnTo>
                  <a:cubicBezTo>
                    <a:pt x="9332" y="1290107"/>
                    <a:pt x="6101" y="1288769"/>
                    <a:pt x="3720" y="1286388"/>
                  </a:cubicBezTo>
                  <a:cubicBezTo>
                    <a:pt x="1338" y="1284006"/>
                    <a:pt x="0" y="1280776"/>
                    <a:pt x="0" y="1277407"/>
                  </a:cubicBez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blipFill>
              <a:blip r:embed="rId2">
                <a:alphaModFix amt="18000"/>
              </a:blip>
              <a:stretch>
                <a:fillRect l="0" t="-110019" r="0" b="-32256"/>
              </a:stretch>
            </a:blipFill>
          </p:spPr>
        </p:sp>
      </p:grpSp>
      <p:graphicFrame>
        <p:nvGraphicFramePr>
          <p:cNvPr name="Object 5" id="5"/>
          <p:cNvGraphicFramePr/>
          <p:nvPr/>
        </p:nvGraphicFramePr>
        <p:xfrm>
          <a:off x="2108687" y="1541714"/>
          <a:ext cx="7543800" cy="4857750"/>
        </p:xfrm>
        <a:graphic>
          <a:graphicData uri="http://schemas.openxmlformats.org/presentationml/2006/ole">
            <p:oleObj imgW="9042400" imgH="63627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377182" y="327291"/>
            <a:ext cx="1106469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6500" spc="-195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DATA QUALITY ASSESSMENT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7216" y="282295"/>
            <a:ext cx="8352391" cy="8736552"/>
          </a:xfrm>
          <a:custGeom>
            <a:avLst/>
            <a:gdLst/>
            <a:ahLst/>
            <a:cxnLst/>
            <a:rect r="r" b="b" t="t" l="l"/>
            <a:pathLst>
              <a:path h="8736552" w="8352391">
                <a:moveTo>
                  <a:pt x="0" y="0"/>
                </a:moveTo>
                <a:lnTo>
                  <a:pt x="8352391" y="0"/>
                </a:lnTo>
                <a:lnTo>
                  <a:pt x="8352391" y="8736551"/>
                </a:lnTo>
                <a:lnTo>
                  <a:pt x="0" y="8736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82295"/>
            <a:ext cx="8936164" cy="8736552"/>
          </a:xfrm>
          <a:custGeom>
            <a:avLst/>
            <a:gdLst/>
            <a:ahLst/>
            <a:cxnLst/>
            <a:rect r="r" b="b" t="t" l="l"/>
            <a:pathLst>
              <a:path h="8736552" w="8936164">
                <a:moveTo>
                  <a:pt x="0" y="0"/>
                </a:moveTo>
                <a:lnTo>
                  <a:pt x="8936164" y="0"/>
                </a:lnTo>
                <a:lnTo>
                  <a:pt x="8936164" y="8736551"/>
                </a:lnTo>
                <a:lnTo>
                  <a:pt x="0" y="87365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543" t="0" r="-1426" b="-561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9170863"/>
            <a:ext cx="878682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2"/>
              </a:lnSpc>
              <a:spcBef>
                <a:spcPct val="0"/>
              </a:spcBef>
            </a:pPr>
            <a:r>
              <a:rPr lang="en-US" sz="247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FIG 1. SCREENSHOT SH</a:t>
            </a:r>
            <a:r>
              <a:rPr lang="en-US" sz="247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OWING CONDITIONAL FORMATTING OF BLANK CELLS</a:t>
            </a:r>
          </a:p>
          <a:p>
            <a:pPr algn="ctr">
              <a:lnSpc>
                <a:spcPts val="297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786823" y="9018846"/>
            <a:ext cx="9293341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0"/>
              </a:lnSpc>
              <a:spcBef>
                <a:spcPct val="0"/>
              </a:spcBef>
            </a:pPr>
            <a:r>
              <a:rPr lang="en-US" sz="2075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NB=OVE</a:t>
            </a:r>
            <a:r>
              <a:rPr lang="en-US" sz="2075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RALL PERFORMANCE =(ON TIME DELIVERY PCT +SAFETY COMPLIANCE PER )/2</a:t>
            </a:r>
          </a:p>
          <a:p>
            <a:pPr algn="ctr">
              <a:lnSpc>
                <a:spcPts val="2490"/>
              </a:lnSpc>
              <a:spcBef>
                <a:spcPct val="0"/>
              </a:spcBef>
            </a:pPr>
          </a:p>
          <a:p>
            <a:pPr algn="ctr">
              <a:lnSpc>
                <a:spcPts val="2490"/>
              </a:lnSpc>
              <a:spcBef>
                <a:spcPct val="0"/>
              </a:spcBef>
            </a:pPr>
            <a:r>
              <a:rPr lang="en-US" sz="2075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FIG 1.1 SCREENSHOT SHOWING NEW OVERALL PERFORMANCE SCORE</a:t>
            </a:r>
          </a:p>
          <a:p>
            <a:pPr algn="ctr">
              <a:lnSpc>
                <a:spcPts val="2490"/>
              </a:lnSpc>
              <a:spcBef>
                <a:spcPct val="0"/>
              </a:spcBef>
            </a:pPr>
          </a:p>
          <a:p>
            <a:pPr algn="ctr">
              <a:lnSpc>
                <a:spcPts val="249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622353" y="1484076"/>
          <a:ext cx="3291840" cy="8229600"/>
        </p:xfrm>
        <a:graphic>
          <a:graphicData uri="http://schemas.openxmlformats.org/presentationml/2006/ole">
            <p:oleObj imgW="49276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051905" y="247581"/>
            <a:ext cx="1260013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</a:pPr>
            <a:r>
              <a:rPr lang="en-US" sz="6500" spc="-195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VENDOR PORTFOLIO KEY METRICS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9421" y="8689871"/>
            <a:ext cx="14908113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  <a:spcBef>
                <a:spcPct val="0"/>
              </a:spcBef>
            </a:pPr>
            <a:r>
              <a:rPr lang="en-US" sz="271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This shows th</a:t>
            </a:r>
            <a:r>
              <a:rPr lang="en-US" sz="271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at the overall vendor performance is strong with high safety performance, moderate on time delivery and  defect rates. However, the response time variability presents opportunity for operational improvement.</a:t>
            </a:r>
          </a:p>
          <a:p>
            <a:pPr algn="ctr">
              <a:lnSpc>
                <a:spcPts val="1656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59952" y="0"/>
            <a:ext cx="18307050" cy="10331450"/>
            <a:chOff x="0" y="0"/>
            <a:chExt cx="2287993" cy="12912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7993" cy="1291212"/>
            </a:xfrm>
            <a:custGeom>
              <a:avLst/>
              <a:gdLst/>
              <a:ahLst/>
              <a:cxnLst/>
              <a:rect r="r" b="b" t="t" l="l"/>
              <a:pathLst>
                <a:path h="1291212" w="2287993">
                  <a:moveTo>
                    <a:pt x="12687" y="0"/>
                  </a:moveTo>
                  <a:lnTo>
                    <a:pt x="2275306" y="0"/>
                  </a:lnTo>
                  <a:cubicBezTo>
                    <a:pt x="2282313" y="0"/>
                    <a:pt x="2287993" y="5680"/>
                    <a:pt x="2287993" y="12687"/>
                  </a:cubicBezTo>
                  <a:lnTo>
                    <a:pt x="2287993" y="1278526"/>
                  </a:lnTo>
                  <a:cubicBezTo>
                    <a:pt x="2287993" y="1285532"/>
                    <a:pt x="2282313" y="1291212"/>
                    <a:pt x="2275306" y="1291212"/>
                  </a:cubicBezTo>
                  <a:lnTo>
                    <a:pt x="12687" y="1291212"/>
                  </a:lnTo>
                  <a:cubicBezTo>
                    <a:pt x="5680" y="1291212"/>
                    <a:pt x="0" y="1285532"/>
                    <a:pt x="0" y="1278526"/>
                  </a:cubicBezTo>
                  <a:lnTo>
                    <a:pt x="0" y="12687"/>
                  </a:lnTo>
                  <a:cubicBezTo>
                    <a:pt x="0" y="5680"/>
                    <a:pt x="5680" y="0"/>
                    <a:pt x="12687" y="0"/>
                  </a:cubicBezTo>
                  <a:close/>
                </a:path>
              </a:pathLst>
            </a:custGeom>
            <a:blipFill>
              <a:blip r:embed="rId4">
                <a:alphaModFix amt="18000"/>
              </a:blip>
              <a:stretch>
                <a:fillRect l="0" t="-106954" r="0" b="-35366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1647" y="897003"/>
            <a:ext cx="16094856" cy="6540834"/>
            <a:chOff x="0" y="0"/>
            <a:chExt cx="4238974" cy="1722689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238974" cy="1722689"/>
            </a:xfrm>
            <a:custGeom>
              <a:avLst/>
              <a:gdLst/>
              <a:ahLst/>
              <a:cxnLst/>
              <a:rect r="r" b="b" t="t" l="l"/>
              <a:pathLst>
                <a:path h="1722689" w="4238974">
                  <a:moveTo>
                    <a:pt x="14431" y="0"/>
                  </a:moveTo>
                  <a:lnTo>
                    <a:pt x="4224544" y="0"/>
                  </a:lnTo>
                  <a:cubicBezTo>
                    <a:pt x="4228371" y="0"/>
                    <a:pt x="4232041" y="1520"/>
                    <a:pt x="4234748" y="4227"/>
                  </a:cubicBezTo>
                  <a:cubicBezTo>
                    <a:pt x="4237454" y="6933"/>
                    <a:pt x="4238974" y="10603"/>
                    <a:pt x="4238974" y="14431"/>
                  </a:cubicBezTo>
                  <a:lnTo>
                    <a:pt x="4238974" y="1708258"/>
                  </a:lnTo>
                  <a:cubicBezTo>
                    <a:pt x="4238974" y="1716228"/>
                    <a:pt x="4232513" y="1722689"/>
                    <a:pt x="4224544" y="1722689"/>
                  </a:cubicBezTo>
                  <a:lnTo>
                    <a:pt x="14431" y="1722689"/>
                  </a:lnTo>
                  <a:cubicBezTo>
                    <a:pt x="6461" y="1722689"/>
                    <a:pt x="0" y="1716228"/>
                    <a:pt x="0" y="1708258"/>
                  </a:cubicBezTo>
                  <a:lnTo>
                    <a:pt x="0" y="14431"/>
                  </a:lnTo>
                  <a:cubicBezTo>
                    <a:pt x="0" y="6461"/>
                    <a:pt x="6461" y="0"/>
                    <a:pt x="14431" y="0"/>
                  </a:cubicBezTo>
                  <a:close/>
                </a:path>
              </a:pathLst>
            </a:custGeom>
            <a:solidFill>
              <a:srgbClr val="1F3864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38974" cy="1751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79149" y="1070858"/>
            <a:ext cx="15419851" cy="6193125"/>
          </a:xfrm>
          <a:custGeom>
            <a:avLst/>
            <a:gdLst/>
            <a:ahLst/>
            <a:cxnLst/>
            <a:rect r="r" b="b" t="t" l="l"/>
            <a:pathLst>
              <a:path h="6193125" w="15419851">
                <a:moveTo>
                  <a:pt x="0" y="0"/>
                </a:moveTo>
                <a:lnTo>
                  <a:pt x="15419851" y="0"/>
                </a:lnTo>
                <a:lnTo>
                  <a:pt x="15419851" y="6193125"/>
                </a:lnTo>
                <a:lnTo>
                  <a:pt x="0" y="6193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5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9149" y="7930467"/>
            <a:ext cx="11301259" cy="2133113"/>
          </a:xfrm>
          <a:custGeom>
            <a:avLst/>
            <a:gdLst/>
            <a:ahLst/>
            <a:cxnLst/>
            <a:rect r="r" b="b" t="t" l="l"/>
            <a:pathLst>
              <a:path h="2133113" w="11301259">
                <a:moveTo>
                  <a:pt x="0" y="0"/>
                </a:moveTo>
                <a:lnTo>
                  <a:pt x="11301259" y="0"/>
                </a:lnTo>
                <a:lnTo>
                  <a:pt x="11301259" y="2133112"/>
                </a:lnTo>
                <a:lnTo>
                  <a:pt x="0" y="2133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37507" y="106731"/>
            <a:ext cx="11812987" cy="78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sz="5911" spc="-17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SPEND BY VENDOR CATEGORY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41647" y="7609287"/>
            <a:ext cx="12001739" cy="2775472"/>
            <a:chOff x="0" y="0"/>
            <a:chExt cx="3160952" cy="730989"/>
          </a:xfrm>
        </p:grpSpPr>
        <p:sp>
          <p:nvSpPr>
            <p:cNvPr name="Freeform 9" id="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160952" cy="730989"/>
            </a:xfrm>
            <a:custGeom>
              <a:avLst/>
              <a:gdLst/>
              <a:ahLst/>
              <a:cxnLst/>
              <a:rect r="r" b="b" t="t" l="l"/>
              <a:pathLst>
                <a:path h="730989" w="3160952">
                  <a:moveTo>
                    <a:pt x="19352" y="0"/>
                  </a:moveTo>
                  <a:lnTo>
                    <a:pt x="3141600" y="0"/>
                  </a:lnTo>
                  <a:cubicBezTo>
                    <a:pt x="3152288" y="0"/>
                    <a:pt x="3160952" y="8664"/>
                    <a:pt x="3160952" y="19352"/>
                  </a:cubicBezTo>
                  <a:lnTo>
                    <a:pt x="3160952" y="711637"/>
                  </a:lnTo>
                  <a:cubicBezTo>
                    <a:pt x="3160952" y="716769"/>
                    <a:pt x="3158913" y="721691"/>
                    <a:pt x="3155284" y="725321"/>
                  </a:cubicBezTo>
                  <a:cubicBezTo>
                    <a:pt x="3151655" y="728950"/>
                    <a:pt x="3146732" y="730989"/>
                    <a:pt x="3141600" y="730989"/>
                  </a:cubicBezTo>
                  <a:lnTo>
                    <a:pt x="19352" y="730989"/>
                  </a:lnTo>
                  <a:cubicBezTo>
                    <a:pt x="14220" y="730989"/>
                    <a:pt x="9297" y="728950"/>
                    <a:pt x="5668" y="725321"/>
                  </a:cubicBezTo>
                  <a:cubicBezTo>
                    <a:pt x="2039" y="721691"/>
                    <a:pt x="0" y="716769"/>
                    <a:pt x="0" y="711637"/>
                  </a:cubicBezTo>
                  <a:lnTo>
                    <a:pt x="0" y="19352"/>
                  </a:lnTo>
                  <a:cubicBezTo>
                    <a:pt x="0" y="14220"/>
                    <a:pt x="2039" y="9297"/>
                    <a:pt x="5668" y="5668"/>
                  </a:cubicBezTo>
                  <a:cubicBezTo>
                    <a:pt x="9297" y="2039"/>
                    <a:pt x="14220" y="0"/>
                    <a:pt x="19352" y="0"/>
                  </a:cubicBezTo>
                  <a:close/>
                </a:path>
              </a:pathLst>
            </a:custGeom>
            <a:solidFill>
              <a:srgbClr val="1F3864">
                <a:alpha val="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160952" cy="759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343385" y="7743446"/>
            <a:ext cx="5789332" cy="262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499"/>
              </a:lnSpc>
              <a:buFont typeface="Arial"/>
              <a:buChar char="•"/>
            </a:pP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DRILLING EQ</a:t>
            </a: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UIPMENT IS THE HIGHEST SPEND CATEGORY</a:t>
            </a:r>
          </a:p>
          <a:p>
            <a:pPr algn="ctr" marL="604519" indent="-302260" lvl="1">
              <a:lnSpc>
                <a:spcPts val="3499"/>
              </a:lnSpc>
              <a:buFont typeface="Arial"/>
              <a:buChar char="•"/>
            </a:pP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ENGINEERING SERVICES HAS THE BEST QUALITY PERFORMANCE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1311" y="1206943"/>
            <a:ext cx="17605379" cy="7576554"/>
            <a:chOff x="0" y="0"/>
            <a:chExt cx="4636808" cy="1995471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636808" cy="1995471"/>
            </a:xfrm>
            <a:custGeom>
              <a:avLst/>
              <a:gdLst/>
              <a:ahLst/>
              <a:cxnLst/>
              <a:rect r="r" b="b" t="t" l="l"/>
              <a:pathLst>
                <a:path h="1995471" w="4636808">
                  <a:moveTo>
                    <a:pt x="13192" y="0"/>
                  </a:moveTo>
                  <a:lnTo>
                    <a:pt x="4623615" y="0"/>
                  </a:lnTo>
                  <a:cubicBezTo>
                    <a:pt x="4627114" y="0"/>
                    <a:pt x="4630470" y="1390"/>
                    <a:pt x="4632944" y="3864"/>
                  </a:cubicBezTo>
                  <a:cubicBezTo>
                    <a:pt x="4635418" y="6338"/>
                    <a:pt x="4636808" y="9694"/>
                    <a:pt x="4636808" y="13192"/>
                  </a:cubicBezTo>
                  <a:lnTo>
                    <a:pt x="4636808" y="1982279"/>
                  </a:lnTo>
                  <a:cubicBezTo>
                    <a:pt x="4636808" y="1989565"/>
                    <a:pt x="4630901" y="1995471"/>
                    <a:pt x="4623615" y="1995471"/>
                  </a:cubicBezTo>
                  <a:lnTo>
                    <a:pt x="13192" y="1995471"/>
                  </a:lnTo>
                  <a:cubicBezTo>
                    <a:pt x="9694" y="1995471"/>
                    <a:pt x="6338" y="1994081"/>
                    <a:pt x="3864" y="1991607"/>
                  </a:cubicBezTo>
                  <a:cubicBezTo>
                    <a:pt x="1390" y="1989133"/>
                    <a:pt x="0" y="1985777"/>
                    <a:pt x="0" y="1982279"/>
                  </a:cubicBezTo>
                  <a:lnTo>
                    <a:pt x="0" y="13192"/>
                  </a:lnTo>
                  <a:cubicBezTo>
                    <a:pt x="0" y="9694"/>
                    <a:pt x="1390" y="6338"/>
                    <a:pt x="3864" y="3864"/>
                  </a:cubicBezTo>
                  <a:cubicBezTo>
                    <a:pt x="6338" y="1390"/>
                    <a:pt x="9694" y="0"/>
                    <a:pt x="13192" y="0"/>
                  </a:cubicBezTo>
                  <a:close/>
                </a:path>
              </a:pathLst>
            </a:custGeom>
            <a:solidFill>
              <a:srgbClr val="1F3864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6808" cy="2024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04935" y="1526659"/>
            <a:ext cx="16908751" cy="6937122"/>
          </a:xfrm>
          <a:custGeom>
            <a:avLst/>
            <a:gdLst/>
            <a:ahLst/>
            <a:cxnLst/>
            <a:rect r="r" b="b" t="t" l="l"/>
            <a:pathLst>
              <a:path h="6937122" w="16908751">
                <a:moveTo>
                  <a:pt x="0" y="0"/>
                </a:moveTo>
                <a:lnTo>
                  <a:pt x="16908751" y="0"/>
                </a:lnTo>
                <a:lnTo>
                  <a:pt x="16908751" y="6937122"/>
                </a:lnTo>
                <a:lnTo>
                  <a:pt x="0" y="6937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1" r="0" b="-88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24834" y="236472"/>
            <a:ext cx="12885677" cy="79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sz="5911" spc="-17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REGIONAL VENDOR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24780" y="9088297"/>
            <a:ext cx="12838439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NORTH S</a:t>
            </a: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EA REGION IS THE MOST RELIABLE REGION BECAUSE IT HAS THE HIGHEST ON TIME DELIVERY: 88.38%.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9149" y="1028700"/>
            <a:ext cx="12806642" cy="6345443"/>
            <a:chOff x="0" y="0"/>
            <a:chExt cx="3372943" cy="1671228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372943" cy="1671228"/>
            </a:xfrm>
            <a:custGeom>
              <a:avLst/>
              <a:gdLst/>
              <a:ahLst/>
              <a:cxnLst/>
              <a:rect r="r" b="b" t="t" l="l"/>
              <a:pathLst>
                <a:path h="1671228" w="3372943">
                  <a:moveTo>
                    <a:pt x="18136" y="0"/>
                  </a:moveTo>
                  <a:lnTo>
                    <a:pt x="3354807" y="0"/>
                  </a:lnTo>
                  <a:cubicBezTo>
                    <a:pt x="3364823" y="0"/>
                    <a:pt x="3372943" y="8120"/>
                    <a:pt x="3372943" y="18136"/>
                  </a:cubicBezTo>
                  <a:lnTo>
                    <a:pt x="3372943" y="1653092"/>
                  </a:lnTo>
                  <a:cubicBezTo>
                    <a:pt x="3372943" y="1657902"/>
                    <a:pt x="3371032" y="1662515"/>
                    <a:pt x="3367631" y="1665916"/>
                  </a:cubicBezTo>
                  <a:cubicBezTo>
                    <a:pt x="3364230" y="1669317"/>
                    <a:pt x="3359617" y="1671228"/>
                    <a:pt x="3354807" y="1671228"/>
                  </a:cubicBezTo>
                  <a:lnTo>
                    <a:pt x="18136" y="1671228"/>
                  </a:lnTo>
                  <a:cubicBezTo>
                    <a:pt x="13326" y="1671228"/>
                    <a:pt x="8713" y="1669317"/>
                    <a:pt x="5312" y="1665916"/>
                  </a:cubicBezTo>
                  <a:cubicBezTo>
                    <a:pt x="1911" y="1662515"/>
                    <a:pt x="0" y="1657902"/>
                    <a:pt x="0" y="1653092"/>
                  </a:cubicBezTo>
                  <a:lnTo>
                    <a:pt x="0" y="18136"/>
                  </a:lnTo>
                  <a:cubicBezTo>
                    <a:pt x="0" y="13326"/>
                    <a:pt x="1911" y="8713"/>
                    <a:pt x="5312" y="5312"/>
                  </a:cubicBezTo>
                  <a:cubicBezTo>
                    <a:pt x="8713" y="1911"/>
                    <a:pt x="13326" y="0"/>
                    <a:pt x="18136" y="0"/>
                  </a:cubicBezTo>
                  <a:close/>
                </a:path>
              </a:pathLst>
            </a:custGeom>
            <a:solidFill>
              <a:srgbClr val="1F3864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372943" cy="1699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9984" y="7702884"/>
            <a:ext cx="11659975" cy="2775472"/>
            <a:chOff x="0" y="0"/>
            <a:chExt cx="3070940" cy="730989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070940" cy="730989"/>
            </a:xfrm>
            <a:custGeom>
              <a:avLst/>
              <a:gdLst/>
              <a:ahLst/>
              <a:cxnLst/>
              <a:rect r="r" b="b" t="t" l="l"/>
              <a:pathLst>
                <a:path h="730989" w="3070940">
                  <a:moveTo>
                    <a:pt x="19919" y="0"/>
                  </a:moveTo>
                  <a:lnTo>
                    <a:pt x="3051021" y="0"/>
                  </a:lnTo>
                  <a:cubicBezTo>
                    <a:pt x="3062022" y="0"/>
                    <a:pt x="3070940" y="8918"/>
                    <a:pt x="3070940" y="19919"/>
                  </a:cubicBezTo>
                  <a:lnTo>
                    <a:pt x="3070940" y="711069"/>
                  </a:lnTo>
                  <a:cubicBezTo>
                    <a:pt x="3070940" y="722070"/>
                    <a:pt x="3062022" y="730989"/>
                    <a:pt x="3051021" y="730989"/>
                  </a:cubicBezTo>
                  <a:lnTo>
                    <a:pt x="19919" y="730989"/>
                  </a:lnTo>
                  <a:cubicBezTo>
                    <a:pt x="8918" y="730989"/>
                    <a:pt x="0" y="722070"/>
                    <a:pt x="0" y="711069"/>
                  </a:cubicBezTo>
                  <a:lnTo>
                    <a:pt x="0" y="19919"/>
                  </a:lnTo>
                  <a:cubicBezTo>
                    <a:pt x="0" y="8918"/>
                    <a:pt x="8918" y="0"/>
                    <a:pt x="19919" y="0"/>
                  </a:cubicBezTo>
                  <a:close/>
                </a:path>
              </a:pathLst>
            </a:custGeom>
            <a:solidFill>
              <a:srgbClr val="1F3864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070940" cy="759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49342" y="7931484"/>
            <a:ext cx="11301259" cy="2104859"/>
          </a:xfrm>
          <a:custGeom>
            <a:avLst/>
            <a:gdLst/>
            <a:ahLst/>
            <a:cxnLst/>
            <a:rect r="r" b="b" t="t" l="l"/>
            <a:pathLst>
              <a:path h="2104859" w="11301259">
                <a:moveTo>
                  <a:pt x="0" y="0"/>
                </a:moveTo>
                <a:lnTo>
                  <a:pt x="11301259" y="0"/>
                </a:lnTo>
                <a:lnTo>
                  <a:pt x="11301259" y="2104859"/>
                </a:lnTo>
                <a:lnTo>
                  <a:pt x="0" y="2104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7250" y="106731"/>
            <a:ext cx="15660041" cy="78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sz="5911" spc="-17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CONTRACT TYPE PERFORMANCE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43385" y="7364618"/>
            <a:ext cx="5944615" cy="322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8084" indent="-279042" lvl="1">
              <a:lnSpc>
                <a:spcPts val="3231"/>
              </a:lnSpc>
              <a:buFont typeface="Arial"/>
              <a:buChar char="•"/>
            </a:pPr>
            <a:r>
              <a:rPr lang="en-US" b="true" sz="2584" spc="-38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FRAMEWORK AGREE</a:t>
            </a:r>
            <a:r>
              <a:rPr lang="en-US" b="true" sz="2584" spc="-38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MENT PROVIDES THE BEST VALUE BECAUSE IT HAS A NEGATIVE COST VARIANCE SHOWING THE CONTRACT IS UNDER BUDGET.</a:t>
            </a:r>
          </a:p>
          <a:p>
            <a:pPr algn="ctr" marL="558084" indent="-279042" lvl="1">
              <a:lnSpc>
                <a:spcPts val="3231"/>
              </a:lnSpc>
              <a:buFont typeface="Arial"/>
              <a:buChar char="•"/>
            </a:pPr>
            <a:r>
              <a:rPr lang="en-US" b="true" sz="2584" spc="-38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WHICH SHOWS STABLE PERFORMANCE.</a:t>
            </a:r>
          </a:p>
          <a:p>
            <a:pPr algn="ctr">
              <a:lnSpc>
                <a:spcPts val="3231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87434" y="1147670"/>
            <a:ext cx="11828427" cy="6046655"/>
          </a:xfrm>
          <a:custGeom>
            <a:avLst/>
            <a:gdLst/>
            <a:ahLst/>
            <a:cxnLst/>
            <a:rect r="r" b="b" t="t" l="l"/>
            <a:pathLst>
              <a:path h="6046655" w="11828427">
                <a:moveTo>
                  <a:pt x="0" y="0"/>
                </a:moveTo>
                <a:lnTo>
                  <a:pt x="11828427" y="0"/>
                </a:lnTo>
                <a:lnTo>
                  <a:pt x="11828427" y="6046655"/>
                </a:lnTo>
                <a:lnTo>
                  <a:pt x="0" y="6046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0" t="0" r="-650" b="-576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5603" y="1206943"/>
            <a:ext cx="14034432" cy="7576554"/>
            <a:chOff x="0" y="0"/>
            <a:chExt cx="3696311" cy="1995471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696311" cy="1995471"/>
            </a:xfrm>
            <a:custGeom>
              <a:avLst/>
              <a:gdLst/>
              <a:ahLst/>
              <a:cxnLst/>
              <a:rect r="r" b="b" t="t" l="l"/>
              <a:pathLst>
                <a:path h="1995471" w="3696311">
                  <a:moveTo>
                    <a:pt x="16549" y="0"/>
                  </a:moveTo>
                  <a:lnTo>
                    <a:pt x="3679762" y="0"/>
                  </a:lnTo>
                  <a:cubicBezTo>
                    <a:pt x="3684151" y="0"/>
                    <a:pt x="3688361" y="1744"/>
                    <a:pt x="3691464" y="4847"/>
                  </a:cubicBezTo>
                  <a:cubicBezTo>
                    <a:pt x="3694568" y="7951"/>
                    <a:pt x="3696311" y="12160"/>
                    <a:pt x="3696311" y="16549"/>
                  </a:cubicBezTo>
                  <a:lnTo>
                    <a:pt x="3696311" y="1978922"/>
                  </a:lnTo>
                  <a:cubicBezTo>
                    <a:pt x="3696311" y="1983311"/>
                    <a:pt x="3694568" y="1987520"/>
                    <a:pt x="3691464" y="1990624"/>
                  </a:cubicBezTo>
                  <a:cubicBezTo>
                    <a:pt x="3688361" y="1993728"/>
                    <a:pt x="3684151" y="1995471"/>
                    <a:pt x="3679762" y="1995471"/>
                  </a:cubicBezTo>
                  <a:lnTo>
                    <a:pt x="16549" y="1995471"/>
                  </a:lnTo>
                  <a:cubicBezTo>
                    <a:pt x="12160" y="1995471"/>
                    <a:pt x="7951" y="1993728"/>
                    <a:pt x="4847" y="1990624"/>
                  </a:cubicBezTo>
                  <a:cubicBezTo>
                    <a:pt x="1744" y="1987520"/>
                    <a:pt x="0" y="1983311"/>
                    <a:pt x="0" y="1978922"/>
                  </a:cubicBezTo>
                  <a:lnTo>
                    <a:pt x="0" y="16549"/>
                  </a:lnTo>
                  <a:cubicBezTo>
                    <a:pt x="0" y="12160"/>
                    <a:pt x="1744" y="7951"/>
                    <a:pt x="4847" y="4847"/>
                  </a:cubicBezTo>
                  <a:cubicBezTo>
                    <a:pt x="7951" y="1744"/>
                    <a:pt x="12160" y="0"/>
                    <a:pt x="16549" y="0"/>
                  </a:cubicBezTo>
                  <a:close/>
                </a:path>
              </a:pathLst>
            </a:custGeom>
            <a:solidFill>
              <a:srgbClr val="1F3864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696311" cy="2024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67020" y="1467266"/>
            <a:ext cx="12728293" cy="7316231"/>
          </a:xfrm>
          <a:custGeom>
            <a:avLst/>
            <a:gdLst/>
            <a:ahLst/>
            <a:cxnLst/>
            <a:rect r="r" b="b" t="t" l="l"/>
            <a:pathLst>
              <a:path h="7316231" w="12728293">
                <a:moveTo>
                  <a:pt x="0" y="0"/>
                </a:moveTo>
                <a:lnTo>
                  <a:pt x="12728293" y="0"/>
                </a:lnTo>
                <a:lnTo>
                  <a:pt x="12728293" y="7316231"/>
                </a:lnTo>
                <a:lnTo>
                  <a:pt x="0" y="731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83" r="0" b="-158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24834" y="236472"/>
            <a:ext cx="12885677" cy="79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sz="5911" spc="-17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QUALITY VS SAFETY CORRELATION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37527" y="8844280"/>
            <a:ext cx="12660290" cy="108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2" indent="-248286" lvl="1">
              <a:lnSpc>
                <a:spcPts val="2875"/>
              </a:lnSpc>
              <a:buFont typeface="Arial"/>
              <a:buChar char="•"/>
            </a:pPr>
            <a:r>
              <a:rPr lang="en-US" b="true" sz="2300" spc="-34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CORR</a:t>
            </a:r>
            <a:r>
              <a:rPr lang="en-US" b="true" sz="2300" spc="-34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ELATION (R)=0.094. THIS SHOWS A VERY WEAK POSITIVE CORRELATION</a:t>
            </a:r>
          </a:p>
          <a:p>
            <a:pPr algn="just" marL="496572" indent="-248286" lvl="1">
              <a:lnSpc>
                <a:spcPts val="2875"/>
              </a:lnSpc>
              <a:buFont typeface="Arial"/>
              <a:buChar char="•"/>
            </a:pPr>
            <a:r>
              <a:rPr lang="en-US" sz="2300" spc="-34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R2=0.0088 MEANING A VARIATION OF JUST 0.88%.</a:t>
            </a:r>
            <a:r>
              <a:rPr lang="en-US" b="true" sz="2300" spc="-34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  <a:p>
            <a:pPr algn="just" marL="496572" indent="-248286" lvl="1">
              <a:lnSpc>
                <a:spcPts val="287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34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MEANING QUALITY SCORE DOES NOT STRONGLY DEPEND ON SAFETY COMPLIANCE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7616" y="2098828"/>
            <a:ext cx="16754739" cy="7159472"/>
            <a:chOff x="0" y="0"/>
            <a:chExt cx="4412771" cy="1885622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412771" cy="1885622"/>
            </a:xfrm>
            <a:custGeom>
              <a:avLst/>
              <a:gdLst/>
              <a:ahLst/>
              <a:cxnLst/>
              <a:rect r="r" b="b" t="t" l="l"/>
              <a:pathLst>
                <a:path h="1885622" w="4412771">
                  <a:moveTo>
                    <a:pt x="13862" y="0"/>
                  </a:moveTo>
                  <a:lnTo>
                    <a:pt x="4398908" y="0"/>
                  </a:lnTo>
                  <a:cubicBezTo>
                    <a:pt x="4402585" y="0"/>
                    <a:pt x="4406111" y="1460"/>
                    <a:pt x="4408710" y="4060"/>
                  </a:cubicBezTo>
                  <a:cubicBezTo>
                    <a:pt x="4411310" y="6660"/>
                    <a:pt x="4412771" y="10186"/>
                    <a:pt x="4412771" y="13862"/>
                  </a:cubicBezTo>
                  <a:lnTo>
                    <a:pt x="4412771" y="1871760"/>
                  </a:lnTo>
                  <a:cubicBezTo>
                    <a:pt x="4412771" y="1875437"/>
                    <a:pt x="4411310" y="1878962"/>
                    <a:pt x="4408710" y="1881562"/>
                  </a:cubicBezTo>
                  <a:cubicBezTo>
                    <a:pt x="4406111" y="1884162"/>
                    <a:pt x="4402585" y="1885622"/>
                    <a:pt x="4398908" y="1885622"/>
                  </a:cubicBezTo>
                  <a:lnTo>
                    <a:pt x="13862" y="1885622"/>
                  </a:lnTo>
                  <a:cubicBezTo>
                    <a:pt x="6206" y="1885622"/>
                    <a:pt x="0" y="1879416"/>
                    <a:pt x="0" y="1871760"/>
                  </a:cubicBezTo>
                  <a:lnTo>
                    <a:pt x="0" y="13862"/>
                  </a:lnTo>
                  <a:cubicBezTo>
                    <a:pt x="0" y="10186"/>
                    <a:pt x="1460" y="6660"/>
                    <a:pt x="4060" y="4060"/>
                  </a:cubicBezTo>
                  <a:cubicBezTo>
                    <a:pt x="6660" y="1460"/>
                    <a:pt x="10186" y="0"/>
                    <a:pt x="13862" y="0"/>
                  </a:cubicBezTo>
                  <a:close/>
                </a:path>
              </a:pathLst>
            </a:custGeom>
            <a:solidFill>
              <a:srgbClr val="1F3864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12771" cy="191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66561" y="2304348"/>
            <a:ext cx="16392739" cy="6678506"/>
          </a:xfrm>
          <a:custGeom>
            <a:avLst/>
            <a:gdLst/>
            <a:ahLst/>
            <a:cxnLst/>
            <a:rect r="r" b="b" t="t" l="l"/>
            <a:pathLst>
              <a:path h="6678506" w="16392739">
                <a:moveTo>
                  <a:pt x="0" y="0"/>
                </a:moveTo>
                <a:lnTo>
                  <a:pt x="16392739" y="0"/>
                </a:lnTo>
                <a:lnTo>
                  <a:pt x="16392739" y="6678506"/>
                </a:lnTo>
                <a:lnTo>
                  <a:pt x="0" y="6678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" t="0" r="-397" b="-112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72206" y="315454"/>
            <a:ext cx="14935857" cy="153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1"/>
              </a:lnSpc>
            </a:pPr>
            <a:r>
              <a:rPr lang="en-US" sz="5911" spc="-17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QUALITY VS SAFETY CORRELATION AND EQUATION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1452813"/>
            <a:ext cx="8661214" cy="6900300"/>
            <a:chOff x="0" y="0"/>
            <a:chExt cx="2281143" cy="181736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281143" cy="1817363"/>
            </a:xfrm>
            <a:custGeom>
              <a:avLst/>
              <a:gdLst/>
              <a:ahLst/>
              <a:cxnLst/>
              <a:rect r="r" b="b" t="t" l="l"/>
              <a:pathLst>
                <a:path h="1817363" w="2281143">
                  <a:moveTo>
                    <a:pt x="26816" y="0"/>
                  </a:moveTo>
                  <a:lnTo>
                    <a:pt x="2254327" y="0"/>
                  </a:lnTo>
                  <a:cubicBezTo>
                    <a:pt x="2269137" y="0"/>
                    <a:pt x="2281143" y="12006"/>
                    <a:pt x="2281143" y="26816"/>
                  </a:cubicBezTo>
                  <a:lnTo>
                    <a:pt x="2281143" y="1790547"/>
                  </a:lnTo>
                  <a:cubicBezTo>
                    <a:pt x="2281143" y="1805357"/>
                    <a:pt x="2269137" y="1817363"/>
                    <a:pt x="2254327" y="1817363"/>
                  </a:cubicBezTo>
                  <a:lnTo>
                    <a:pt x="26816" y="1817363"/>
                  </a:lnTo>
                  <a:cubicBezTo>
                    <a:pt x="12006" y="1817363"/>
                    <a:pt x="0" y="1805357"/>
                    <a:pt x="0" y="1790547"/>
                  </a:cubicBezTo>
                  <a:lnTo>
                    <a:pt x="0" y="26816"/>
                  </a:lnTo>
                  <a:cubicBezTo>
                    <a:pt x="0" y="12006"/>
                    <a:pt x="12006" y="0"/>
                    <a:pt x="2681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81143" cy="1845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3709" y="1452813"/>
            <a:ext cx="8427042" cy="6900300"/>
            <a:chOff x="0" y="0"/>
            <a:chExt cx="2219468" cy="1817363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219468" cy="1817363"/>
            </a:xfrm>
            <a:custGeom>
              <a:avLst/>
              <a:gdLst/>
              <a:ahLst/>
              <a:cxnLst/>
              <a:rect r="r" b="b" t="t" l="l"/>
              <a:pathLst>
                <a:path h="1817363" w="2219468">
                  <a:moveTo>
                    <a:pt x="27561" y="0"/>
                  </a:moveTo>
                  <a:lnTo>
                    <a:pt x="2191907" y="0"/>
                  </a:lnTo>
                  <a:cubicBezTo>
                    <a:pt x="2199217" y="0"/>
                    <a:pt x="2206227" y="2904"/>
                    <a:pt x="2211395" y="8072"/>
                  </a:cubicBezTo>
                  <a:cubicBezTo>
                    <a:pt x="2216564" y="13241"/>
                    <a:pt x="2219468" y="20251"/>
                    <a:pt x="2219468" y="27561"/>
                  </a:cubicBezTo>
                  <a:lnTo>
                    <a:pt x="2219468" y="1789802"/>
                  </a:lnTo>
                  <a:cubicBezTo>
                    <a:pt x="2219468" y="1805023"/>
                    <a:pt x="2207128" y="1817363"/>
                    <a:pt x="2191907" y="1817363"/>
                  </a:cubicBezTo>
                  <a:lnTo>
                    <a:pt x="27561" y="1817363"/>
                  </a:lnTo>
                  <a:cubicBezTo>
                    <a:pt x="12339" y="1817363"/>
                    <a:pt x="0" y="1805023"/>
                    <a:pt x="0" y="1789802"/>
                  </a:cubicBezTo>
                  <a:lnTo>
                    <a:pt x="0" y="27561"/>
                  </a:lnTo>
                  <a:cubicBezTo>
                    <a:pt x="0" y="12339"/>
                    <a:pt x="12339" y="0"/>
                    <a:pt x="2756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19468" cy="1845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03709" y="2261062"/>
            <a:ext cx="8427042" cy="5283802"/>
          </a:xfrm>
          <a:custGeom>
            <a:avLst/>
            <a:gdLst/>
            <a:ahLst/>
            <a:cxnLst/>
            <a:rect r="r" b="b" t="t" l="l"/>
            <a:pathLst>
              <a:path h="5283802" w="8427042">
                <a:moveTo>
                  <a:pt x="0" y="0"/>
                </a:moveTo>
                <a:lnTo>
                  <a:pt x="8427041" y="0"/>
                </a:lnTo>
                <a:lnTo>
                  <a:pt x="8427041" y="5283801"/>
                </a:lnTo>
                <a:lnTo>
                  <a:pt x="0" y="5283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883" b="-135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95020" y="2261062"/>
            <a:ext cx="8510194" cy="5283802"/>
          </a:xfrm>
          <a:custGeom>
            <a:avLst/>
            <a:gdLst/>
            <a:ahLst/>
            <a:cxnLst/>
            <a:rect r="r" b="b" t="t" l="l"/>
            <a:pathLst>
              <a:path h="5283802" w="8510194">
                <a:moveTo>
                  <a:pt x="0" y="0"/>
                </a:moveTo>
                <a:lnTo>
                  <a:pt x="8510194" y="0"/>
                </a:lnTo>
                <a:lnTo>
                  <a:pt x="8510194" y="5283801"/>
                </a:lnTo>
                <a:lnTo>
                  <a:pt x="0" y="5283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60508" y="477011"/>
            <a:ext cx="11249876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</a:pPr>
            <a:r>
              <a:rPr lang="en-US" sz="5600" spc="-16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VENDOR PERFORMANCE RANKINGS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76258" y="8437832"/>
            <a:ext cx="14135485" cy="163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b="true" sz="2584" spc="-3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RECOM</a:t>
            </a:r>
            <a:r>
              <a:rPr lang="en-US" b="true" sz="2584" spc="-3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MENDATION </a:t>
            </a:r>
          </a:p>
          <a:p>
            <a:pPr algn="ctr" marL="558084" indent="-279042" lvl="1">
              <a:lnSpc>
                <a:spcPts val="3231"/>
              </a:lnSpc>
              <a:buFont typeface="Arial"/>
              <a:buChar char="•"/>
            </a:pPr>
            <a:r>
              <a:rPr lang="en-US" b="true" sz="2584" spc="-3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TOP VENDORS SHOULD BE PRIORITIZED FOR CONTRACT EXPANSION</a:t>
            </a:r>
          </a:p>
          <a:p>
            <a:pPr algn="ctr" marL="558084" indent="-279042" lvl="1">
              <a:lnSpc>
                <a:spcPts val="3231"/>
              </a:lnSpc>
              <a:buFont typeface="Arial"/>
              <a:buChar char="•"/>
            </a:pPr>
            <a:r>
              <a:rPr lang="en-US" b="true" sz="2584" spc="-3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BOTTOM VENDORS REQUIRE PERFORMANCE REVIEW OR CORRECTIVE PLANS</a:t>
            </a:r>
          </a:p>
          <a:p>
            <a:pPr algn="ctr">
              <a:lnSpc>
                <a:spcPts val="32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1647" y="831155"/>
            <a:ext cx="12462138" cy="6540834"/>
            <a:chOff x="0" y="0"/>
            <a:chExt cx="3282209" cy="1722689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282209" cy="1722689"/>
            </a:xfrm>
            <a:custGeom>
              <a:avLst/>
              <a:gdLst/>
              <a:ahLst/>
              <a:cxnLst/>
              <a:rect r="r" b="b" t="t" l="l"/>
              <a:pathLst>
                <a:path h="1722689" w="3282209">
                  <a:moveTo>
                    <a:pt x="18637" y="0"/>
                  </a:moveTo>
                  <a:lnTo>
                    <a:pt x="3263572" y="0"/>
                  </a:lnTo>
                  <a:cubicBezTo>
                    <a:pt x="3273865" y="0"/>
                    <a:pt x="3282209" y="8344"/>
                    <a:pt x="3282209" y="18637"/>
                  </a:cubicBezTo>
                  <a:lnTo>
                    <a:pt x="3282209" y="1704052"/>
                  </a:lnTo>
                  <a:cubicBezTo>
                    <a:pt x="3282209" y="1714345"/>
                    <a:pt x="3273865" y="1722689"/>
                    <a:pt x="3263572" y="1722689"/>
                  </a:cubicBezTo>
                  <a:lnTo>
                    <a:pt x="18637" y="1722689"/>
                  </a:lnTo>
                  <a:cubicBezTo>
                    <a:pt x="8344" y="1722689"/>
                    <a:pt x="0" y="1714345"/>
                    <a:pt x="0" y="1704052"/>
                  </a:cubicBezTo>
                  <a:lnTo>
                    <a:pt x="0" y="18637"/>
                  </a:lnTo>
                  <a:cubicBezTo>
                    <a:pt x="0" y="8344"/>
                    <a:pt x="8344" y="0"/>
                    <a:pt x="18637" y="0"/>
                  </a:cubicBezTo>
                  <a:close/>
                </a:path>
              </a:pathLst>
            </a:custGeom>
            <a:solidFill>
              <a:srgbClr val="0F2250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282209" cy="1751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2675" y="897003"/>
            <a:ext cx="11740081" cy="6409137"/>
          </a:xfrm>
          <a:custGeom>
            <a:avLst/>
            <a:gdLst/>
            <a:ahLst/>
            <a:cxnLst/>
            <a:rect r="r" b="b" t="t" l="l"/>
            <a:pathLst>
              <a:path h="6409137" w="11740081">
                <a:moveTo>
                  <a:pt x="0" y="0"/>
                </a:moveTo>
                <a:lnTo>
                  <a:pt x="11740081" y="0"/>
                </a:lnTo>
                <a:lnTo>
                  <a:pt x="11740081" y="6409137"/>
                </a:lnTo>
                <a:lnTo>
                  <a:pt x="0" y="6409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72" r="0" b="-299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5304" y="7601025"/>
            <a:ext cx="7748696" cy="2915011"/>
          </a:xfrm>
          <a:custGeom>
            <a:avLst/>
            <a:gdLst/>
            <a:ahLst/>
            <a:cxnLst/>
            <a:rect r="r" b="b" t="t" l="l"/>
            <a:pathLst>
              <a:path h="2915011" w="7748696">
                <a:moveTo>
                  <a:pt x="0" y="0"/>
                </a:moveTo>
                <a:lnTo>
                  <a:pt x="7748696" y="0"/>
                </a:lnTo>
                <a:lnTo>
                  <a:pt x="7748696" y="2915011"/>
                </a:lnTo>
                <a:lnTo>
                  <a:pt x="0" y="291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58" r="0" b="-1291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37507" y="104775"/>
            <a:ext cx="11812987" cy="79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sz="5911" spc="-17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QUALITY ISSUES BY CATEGORY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19195" y="1252962"/>
            <a:ext cx="5119168" cy="568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499"/>
              </a:lnSpc>
              <a:buFont typeface="Arial"/>
              <a:buChar char="•"/>
            </a:pP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OVERALL PRODUCT/SERVICE Q</a:t>
            </a: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UALITY IS STRONG SINCE NO CATEGORY PASSED 5% WITH AN OVERALL OF 3.16%.</a:t>
            </a:r>
          </a:p>
          <a:p>
            <a:pPr algn="ctr" marL="604519" indent="-302260" lvl="1">
              <a:lnSpc>
                <a:spcPts val="3499"/>
              </a:lnSpc>
              <a:buFont typeface="Arial"/>
              <a:buChar char="•"/>
            </a:pP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VENDORS ARE MAINTAINING ACCEPTABLE DEFECT THRESHOLDS</a:t>
            </a:r>
          </a:p>
          <a:p>
            <a:pPr algn="ctr" marL="604519" indent="-302260" lvl="1">
              <a:lnSpc>
                <a:spcPts val="3499"/>
              </a:lnSpc>
              <a:buFont typeface="Arial"/>
              <a:buChar char="•"/>
            </a:pP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THERE IS NO HIGH RISK QUALITY CATEGORY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7616" y="2098828"/>
            <a:ext cx="16754739" cy="7159472"/>
            <a:chOff x="0" y="0"/>
            <a:chExt cx="4412771" cy="1885622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412771" cy="1885622"/>
            </a:xfrm>
            <a:custGeom>
              <a:avLst/>
              <a:gdLst/>
              <a:ahLst/>
              <a:cxnLst/>
              <a:rect r="r" b="b" t="t" l="l"/>
              <a:pathLst>
                <a:path h="1885622" w="4412771">
                  <a:moveTo>
                    <a:pt x="13862" y="0"/>
                  </a:moveTo>
                  <a:lnTo>
                    <a:pt x="4398908" y="0"/>
                  </a:lnTo>
                  <a:cubicBezTo>
                    <a:pt x="4402585" y="0"/>
                    <a:pt x="4406111" y="1460"/>
                    <a:pt x="4408710" y="4060"/>
                  </a:cubicBezTo>
                  <a:cubicBezTo>
                    <a:pt x="4411310" y="6660"/>
                    <a:pt x="4412771" y="10186"/>
                    <a:pt x="4412771" y="13862"/>
                  </a:cubicBezTo>
                  <a:lnTo>
                    <a:pt x="4412771" y="1871760"/>
                  </a:lnTo>
                  <a:cubicBezTo>
                    <a:pt x="4412771" y="1875437"/>
                    <a:pt x="4411310" y="1878962"/>
                    <a:pt x="4408710" y="1881562"/>
                  </a:cubicBezTo>
                  <a:cubicBezTo>
                    <a:pt x="4406111" y="1884162"/>
                    <a:pt x="4402585" y="1885622"/>
                    <a:pt x="4398908" y="1885622"/>
                  </a:cubicBezTo>
                  <a:lnTo>
                    <a:pt x="13862" y="1885622"/>
                  </a:lnTo>
                  <a:cubicBezTo>
                    <a:pt x="6206" y="1885622"/>
                    <a:pt x="0" y="1879416"/>
                    <a:pt x="0" y="1871760"/>
                  </a:cubicBezTo>
                  <a:lnTo>
                    <a:pt x="0" y="13862"/>
                  </a:lnTo>
                  <a:cubicBezTo>
                    <a:pt x="0" y="10186"/>
                    <a:pt x="1460" y="6660"/>
                    <a:pt x="4060" y="4060"/>
                  </a:cubicBezTo>
                  <a:cubicBezTo>
                    <a:pt x="6660" y="1460"/>
                    <a:pt x="10186" y="0"/>
                    <a:pt x="13862" y="0"/>
                  </a:cubicBezTo>
                  <a:close/>
                </a:path>
              </a:pathLst>
            </a:custGeom>
            <a:solidFill>
              <a:srgbClr val="1F3864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12771" cy="191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322199"/>
            <a:ext cx="16078393" cy="6712729"/>
          </a:xfrm>
          <a:custGeom>
            <a:avLst/>
            <a:gdLst/>
            <a:ahLst/>
            <a:cxnLst/>
            <a:rect r="r" b="b" t="t" l="l"/>
            <a:pathLst>
              <a:path h="6712729" w="16078393">
                <a:moveTo>
                  <a:pt x="0" y="0"/>
                </a:moveTo>
                <a:lnTo>
                  <a:pt x="16078393" y="0"/>
                </a:lnTo>
                <a:lnTo>
                  <a:pt x="16078393" y="6712730"/>
                </a:lnTo>
                <a:lnTo>
                  <a:pt x="0" y="6712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72206" y="315454"/>
            <a:ext cx="14935857" cy="153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1"/>
              </a:lnSpc>
            </a:pPr>
            <a:r>
              <a:rPr lang="en-US" sz="5911" spc="-17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DOES CONTRACT SIZE AFFECT QUALITY</a:t>
            </a:r>
          </a:p>
          <a:p>
            <a:pPr algn="ctr" marL="0" indent="0" lvl="0">
              <a:lnSpc>
                <a:spcPts val="5911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51488" y="1405495"/>
            <a:ext cx="11785024" cy="5383613"/>
          </a:xfrm>
          <a:custGeom>
            <a:avLst/>
            <a:gdLst/>
            <a:ahLst/>
            <a:cxnLst/>
            <a:rect r="r" b="b" t="t" l="l"/>
            <a:pathLst>
              <a:path h="5383613" w="11785024">
                <a:moveTo>
                  <a:pt x="0" y="0"/>
                </a:moveTo>
                <a:lnTo>
                  <a:pt x="11785024" y="0"/>
                </a:lnTo>
                <a:lnTo>
                  <a:pt x="11785024" y="5383613"/>
                </a:lnTo>
                <a:lnTo>
                  <a:pt x="0" y="5383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2" t="0" r="-68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2675" y="104775"/>
            <a:ext cx="16286507" cy="79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11"/>
              </a:lnSpc>
            </a:pPr>
            <a:r>
              <a:rPr lang="en-US" sz="5911" spc="-17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CONTRACT VALUE VS QUALITY SCATTERED PLOT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7491" y="7288074"/>
            <a:ext cx="14716875" cy="262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499"/>
              </a:lnSpc>
              <a:buFont typeface="Arial"/>
              <a:buChar char="•"/>
            </a:pP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THE REGRESSION ANALYSIS INDICATES AN EXTREMELY WE</a:t>
            </a: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AK RELATIONSHIP BETWEEN THE CONTRACT SIZE AND VENDOR QUALITY PERFORMANCE. SINCE R2=0.000094</a:t>
            </a:r>
          </a:p>
          <a:p>
            <a:pPr algn="ctr" marL="604519" indent="-302260" lvl="1">
              <a:lnSpc>
                <a:spcPts val="3499"/>
              </a:lnSpc>
              <a:buFont typeface="Arial"/>
              <a:buChar char="•"/>
            </a:pP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THE CONTRACT VALUE ALSO DOES NOT PREDICT QUALITY OUTCOME </a:t>
            </a:r>
          </a:p>
          <a:p>
            <a:pPr algn="ctr" marL="604519" indent="-302260" lvl="1">
              <a:lnSpc>
                <a:spcPts val="3499"/>
              </a:lnSpc>
              <a:buFont typeface="Arial"/>
              <a:buChar char="•"/>
            </a:pPr>
            <a:r>
              <a:rPr lang="en-US" b="true" sz="2799" spc="-41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THIS INDICATES THAT PETROGLOBAL SELECTS VENDORS BASED ON CAPACITY.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0402" y="1859484"/>
            <a:ext cx="11872115" cy="6226029"/>
            <a:chOff x="0" y="0"/>
            <a:chExt cx="3126812" cy="1639777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3126812" cy="1639777"/>
            </a:xfrm>
            <a:custGeom>
              <a:avLst/>
              <a:gdLst/>
              <a:ahLst/>
              <a:cxnLst/>
              <a:rect r="r" b="b" t="t" l="l"/>
              <a:pathLst>
                <a:path h="1639777" w="3126812">
                  <a:moveTo>
                    <a:pt x="19563" y="0"/>
                  </a:moveTo>
                  <a:lnTo>
                    <a:pt x="3107249" y="0"/>
                  </a:lnTo>
                  <a:cubicBezTo>
                    <a:pt x="3112438" y="0"/>
                    <a:pt x="3117413" y="2061"/>
                    <a:pt x="3121082" y="5730"/>
                  </a:cubicBezTo>
                  <a:cubicBezTo>
                    <a:pt x="3124751" y="9399"/>
                    <a:pt x="3126812" y="14375"/>
                    <a:pt x="3126812" y="19563"/>
                  </a:cubicBezTo>
                  <a:lnTo>
                    <a:pt x="3126812" y="1620214"/>
                  </a:lnTo>
                  <a:cubicBezTo>
                    <a:pt x="3126812" y="1625402"/>
                    <a:pt x="3124751" y="1630378"/>
                    <a:pt x="3121082" y="1634047"/>
                  </a:cubicBezTo>
                  <a:cubicBezTo>
                    <a:pt x="3117413" y="1637716"/>
                    <a:pt x="3112438" y="1639777"/>
                    <a:pt x="3107249" y="1639777"/>
                  </a:cubicBezTo>
                  <a:lnTo>
                    <a:pt x="19563" y="1639777"/>
                  </a:lnTo>
                  <a:cubicBezTo>
                    <a:pt x="14375" y="1639777"/>
                    <a:pt x="9399" y="1637716"/>
                    <a:pt x="5730" y="1634047"/>
                  </a:cubicBezTo>
                  <a:cubicBezTo>
                    <a:pt x="2061" y="1630378"/>
                    <a:pt x="0" y="1625402"/>
                    <a:pt x="0" y="1620214"/>
                  </a:cubicBezTo>
                  <a:lnTo>
                    <a:pt x="0" y="19563"/>
                  </a:lnTo>
                  <a:cubicBezTo>
                    <a:pt x="0" y="14375"/>
                    <a:pt x="2061" y="9399"/>
                    <a:pt x="5730" y="5730"/>
                  </a:cubicBezTo>
                  <a:cubicBezTo>
                    <a:pt x="9399" y="2061"/>
                    <a:pt x="14375" y="0"/>
                    <a:pt x="19563" y="0"/>
                  </a:cubicBezTo>
                  <a:close/>
                </a:path>
              </a:pathLst>
            </a:custGeom>
            <a:solidFill>
              <a:srgbClr val="1F3864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26812" cy="166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26627" y="2240470"/>
            <a:ext cx="11299317" cy="5363922"/>
          </a:xfrm>
          <a:custGeom>
            <a:avLst/>
            <a:gdLst/>
            <a:ahLst/>
            <a:cxnLst/>
            <a:rect r="r" b="b" t="t" l="l"/>
            <a:pathLst>
              <a:path h="5363922" w="11299317">
                <a:moveTo>
                  <a:pt x="0" y="0"/>
                </a:moveTo>
                <a:lnTo>
                  <a:pt x="11299318" y="0"/>
                </a:lnTo>
                <a:lnTo>
                  <a:pt x="11299318" y="5363922"/>
                </a:lnTo>
                <a:lnTo>
                  <a:pt x="0" y="5363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1" t="0" r="-50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72206" y="686929"/>
            <a:ext cx="15869300" cy="78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1"/>
              </a:lnSpc>
            </a:pPr>
            <a:r>
              <a:rPr lang="en-US" sz="5911" spc="-177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PREDICTING ON-TIME DELIVERY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0402" y="8257938"/>
            <a:ext cx="14698006" cy="234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b="true" sz="2499" spc="-37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THIS SH</a:t>
            </a:r>
            <a:r>
              <a:rPr lang="en-US" b="true" sz="2499" spc="-37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OWS THAT SAFETY HAS THE HIGHEST POSITIVE INFLUENCE ON TIME DELIVERY.</a:t>
            </a:r>
          </a:p>
          <a:p>
            <a:pPr algn="ctr" marL="539749" indent="-269875" lvl="1">
              <a:lnSpc>
                <a:spcPts val="3124"/>
              </a:lnSpc>
              <a:buFont typeface="Arial"/>
              <a:buChar char="•"/>
            </a:pPr>
            <a:r>
              <a:rPr lang="en-US" b="true" sz="2499" spc="-37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THE RESPONSE TIME NEGATIVELY AFFECTS DELIVERY SO IT NEED TO BE LOOKED INTO </a:t>
            </a:r>
          </a:p>
          <a:p>
            <a:pPr algn="ctr">
              <a:lnSpc>
                <a:spcPts val="3124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NB: THE R2=0.0073 INDICATES THAT THE MODEL IS VERY WEAK BECAUSE IT HAS A LESS THAN 1% VARIATION IN ON-TIME DELIVERY PERFORMANCE, SHOWING THAT THEY ARE WEAK PREDICTORS. </a:t>
            </a:r>
          </a:p>
          <a:p>
            <a:pPr algn="ctr">
              <a:lnSpc>
                <a:spcPts val="3124"/>
              </a:lnSpc>
              <a:spcBef>
                <a:spcPct val="0"/>
              </a:spcBef>
            </a:pPr>
          </a:p>
          <a:p>
            <a:pPr algn="ctr">
              <a:lnSpc>
                <a:spcPts val="3124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398035" y="2221420"/>
            <a:ext cx="5889965" cy="390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X1=QUALITY SC</a:t>
            </a:r>
            <a:r>
              <a:rPr lang="en-US" b="true" sz="2499" spc="-37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ORE, </a:t>
            </a:r>
          </a:p>
          <a:p>
            <a:pPr algn="ctr">
              <a:lnSpc>
                <a:spcPts val="3124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X2=SAFETY COMPLIANCE</a:t>
            </a:r>
          </a:p>
          <a:p>
            <a:pPr algn="ctr">
              <a:lnSpc>
                <a:spcPts val="3124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X3= RESPONSE TIME</a:t>
            </a:r>
          </a:p>
          <a:p>
            <a:pPr algn="ctr">
              <a:lnSpc>
                <a:spcPts val="3124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Y= ON TIME DELIVERY</a:t>
            </a:r>
          </a:p>
          <a:p>
            <a:pPr algn="ctr">
              <a:lnSpc>
                <a:spcPts val="3124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ONTIME DELIVERY =0.001995X1+0.0889X2-0.000139X3+0.7576</a:t>
            </a:r>
          </a:p>
          <a:p>
            <a:pPr algn="ctr">
              <a:lnSpc>
                <a:spcPts val="3124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1F3864"/>
                </a:solidFill>
                <a:latin typeface="DM Sans Bold"/>
                <a:ea typeface="DM Sans Bold"/>
                <a:cs typeface="DM Sans Bold"/>
                <a:sym typeface="DM Sans Bold"/>
              </a:rPr>
              <a:t>R2=0.0073(0.73%)</a:t>
            </a:r>
          </a:p>
          <a:p>
            <a:pPr algn="ctr">
              <a:lnSpc>
                <a:spcPts val="3124"/>
              </a:lnSpc>
              <a:spcBef>
                <a:spcPct val="0"/>
              </a:spcBef>
            </a:pPr>
          </a:p>
          <a:p>
            <a:pPr algn="ctr">
              <a:lnSpc>
                <a:spcPts val="31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F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6477929"/>
            <a:ext cx="8429625" cy="3515482"/>
            <a:chOff x="0" y="0"/>
            <a:chExt cx="2112884" cy="881155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881155"/>
            </a:xfrm>
            <a:custGeom>
              <a:avLst/>
              <a:gdLst/>
              <a:ahLst/>
              <a:cxnLst/>
              <a:rect r="r" b="b" t="t" l="l"/>
              <a:pathLst>
                <a:path h="881155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862786"/>
                  </a:lnTo>
                  <a:cubicBezTo>
                    <a:pt x="2112884" y="867658"/>
                    <a:pt x="2110948" y="872330"/>
                    <a:pt x="2107504" y="875775"/>
                  </a:cubicBezTo>
                  <a:cubicBezTo>
                    <a:pt x="2104059" y="879220"/>
                    <a:pt x="2099387" y="881155"/>
                    <a:pt x="2094515" y="881155"/>
                  </a:cubicBezTo>
                  <a:lnTo>
                    <a:pt x="18368" y="881155"/>
                  </a:lnTo>
                  <a:cubicBezTo>
                    <a:pt x="13497" y="881155"/>
                    <a:pt x="8825" y="879220"/>
                    <a:pt x="5380" y="875775"/>
                  </a:cubicBezTo>
                  <a:cubicBezTo>
                    <a:pt x="1935" y="872330"/>
                    <a:pt x="0" y="867658"/>
                    <a:pt x="0" y="862786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12884" cy="833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2763376"/>
            <a:ext cx="8429625" cy="3156466"/>
            <a:chOff x="0" y="0"/>
            <a:chExt cx="2112884" cy="791167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791168"/>
            </a:xfrm>
            <a:custGeom>
              <a:avLst/>
              <a:gdLst/>
              <a:ahLst/>
              <a:cxnLst/>
              <a:rect r="r" b="b" t="t" l="l"/>
              <a:pathLst>
                <a:path h="791168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772799"/>
                  </a:lnTo>
                  <a:cubicBezTo>
                    <a:pt x="2112884" y="777671"/>
                    <a:pt x="2110948" y="782343"/>
                    <a:pt x="2107504" y="785788"/>
                  </a:cubicBezTo>
                  <a:cubicBezTo>
                    <a:pt x="2104059" y="789232"/>
                    <a:pt x="2099387" y="791168"/>
                    <a:pt x="2094515" y="791168"/>
                  </a:cubicBezTo>
                  <a:lnTo>
                    <a:pt x="18368" y="791168"/>
                  </a:lnTo>
                  <a:cubicBezTo>
                    <a:pt x="13497" y="791168"/>
                    <a:pt x="8825" y="789232"/>
                    <a:pt x="5380" y="785788"/>
                  </a:cubicBezTo>
                  <a:cubicBezTo>
                    <a:pt x="1935" y="782343"/>
                    <a:pt x="0" y="777671"/>
                    <a:pt x="0" y="772799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112884" cy="743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8000" y="3668825"/>
            <a:ext cx="7698768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399" strike="noStrike" u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data shows that quality, safety, and response time together explain less than 1% of delivery performance (R² = 0.007). That means the problem is not the vendors, it's internal planning and coordination. Review how operations are scheduled and managed.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49142" y="6587272"/>
            <a:ext cx="8141660" cy="3062754"/>
            <a:chOff x="0" y="0"/>
            <a:chExt cx="10855547" cy="408367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212947" y="76200"/>
              <a:ext cx="10642600" cy="777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4200" spc="-126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Use More F</a:t>
              </a:r>
              <a:r>
                <a:rPr lang="en-US" sz="4200" spc="-126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ramework Agreements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88072"/>
              <a:ext cx="10855547" cy="289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399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Framework Agreements com</a:t>
              </a:r>
              <a:r>
                <a:rPr lang="en-US" sz="2399" strike="noStrike" u="none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e in 3.09% under budget on average. Fixed Price contracts run 4.03% over. Switching more contracts to Framework Agreements could save PetroGlobal between ₦6.75 billion and ₦9.45 billion per year (approximately $5M–$7M at today's rate of ₦1,350/$1).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86875" y="6755841"/>
            <a:ext cx="8429625" cy="3128228"/>
            <a:chOff x="0" y="0"/>
            <a:chExt cx="2112884" cy="784090"/>
          </a:xfrm>
        </p:grpSpPr>
        <p:sp>
          <p:nvSpPr>
            <p:cNvPr name="Freeform 13" id="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784090"/>
            </a:xfrm>
            <a:custGeom>
              <a:avLst/>
              <a:gdLst/>
              <a:ahLst/>
              <a:cxnLst/>
              <a:rect r="r" b="b" t="t" l="l"/>
              <a:pathLst>
                <a:path h="784090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765721"/>
                  </a:lnTo>
                  <a:cubicBezTo>
                    <a:pt x="2112884" y="770593"/>
                    <a:pt x="2110948" y="775265"/>
                    <a:pt x="2107504" y="778710"/>
                  </a:cubicBezTo>
                  <a:cubicBezTo>
                    <a:pt x="2104059" y="782155"/>
                    <a:pt x="2099387" y="784090"/>
                    <a:pt x="2094515" y="784090"/>
                  </a:cubicBezTo>
                  <a:lnTo>
                    <a:pt x="18368" y="784090"/>
                  </a:lnTo>
                  <a:cubicBezTo>
                    <a:pt x="13497" y="784090"/>
                    <a:pt x="8825" y="782155"/>
                    <a:pt x="5380" y="778710"/>
                  </a:cubicBezTo>
                  <a:cubicBezTo>
                    <a:pt x="1935" y="775265"/>
                    <a:pt x="0" y="770593"/>
                    <a:pt x="0" y="765721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2112884" cy="736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78350" y="2754392"/>
            <a:ext cx="8429625" cy="3723537"/>
            <a:chOff x="0" y="0"/>
            <a:chExt cx="2112884" cy="933304"/>
          </a:xfrm>
        </p:grpSpPr>
        <p:sp>
          <p:nvSpPr>
            <p:cNvPr name="Freeform 16" id="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933304"/>
            </a:xfrm>
            <a:custGeom>
              <a:avLst/>
              <a:gdLst/>
              <a:ahLst/>
              <a:cxnLst/>
              <a:rect r="r" b="b" t="t" l="l"/>
              <a:pathLst>
                <a:path h="933304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914935"/>
                  </a:lnTo>
                  <a:cubicBezTo>
                    <a:pt x="2112884" y="919807"/>
                    <a:pt x="2110948" y="924479"/>
                    <a:pt x="2107504" y="927924"/>
                  </a:cubicBezTo>
                  <a:cubicBezTo>
                    <a:pt x="2104059" y="931369"/>
                    <a:pt x="2099387" y="933304"/>
                    <a:pt x="2094515" y="933304"/>
                  </a:cubicBezTo>
                  <a:lnTo>
                    <a:pt x="18368" y="933304"/>
                  </a:lnTo>
                  <a:cubicBezTo>
                    <a:pt x="13497" y="933304"/>
                    <a:pt x="8825" y="931369"/>
                    <a:pt x="5380" y="927924"/>
                  </a:cubicBezTo>
                  <a:cubicBezTo>
                    <a:pt x="1935" y="924479"/>
                    <a:pt x="0" y="919807"/>
                    <a:pt x="0" y="914935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2112884" cy="885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91100" y="2911030"/>
            <a:ext cx="7570625" cy="3887348"/>
            <a:chOff x="0" y="0"/>
            <a:chExt cx="10094167" cy="518313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578000" y="76200"/>
              <a:ext cx="9516167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Reward Good Vendors, Train/Replace Bad Ones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957330"/>
              <a:ext cx="10094167" cy="322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399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TransGlobal Logisti</a:t>
              </a:r>
              <a:r>
                <a:rPr lang="en-US" sz="2399" strike="noStrike" u="none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cs is the top performer with a score of 91.62. Continental Carriers is last at 85.90 in logistics, where delivery is the entire job. Expand contracts with the top 5 vendors. Give the bottom performers 90 days to improve or replace them.</a:t>
              </a:r>
            </a:p>
            <a:p>
              <a:pPr algn="l" marL="0" indent="0" lvl="0">
                <a:lnSpc>
                  <a:spcPts val="2400"/>
                </a:lnSpc>
              </a:pPr>
            </a:p>
            <a:p>
              <a:pPr algn="l" marL="0" indent="0" lvl="0">
                <a:lnSpc>
                  <a:spcPts val="24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30757" y="7028302"/>
            <a:ext cx="7935654" cy="2431966"/>
            <a:chOff x="0" y="0"/>
            <a:chExt cx="10580873" cy="3242622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504578" y="76200"/>
              <a:ext cx="9579992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L</a:t>
              </a:r>
              <a:r>
                <a:rPr lang="en-US" sz="4500" spc="-135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earn From the Best Region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222756"/>
              <a:ext cx="10580873" cy="20198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8"/>
                </a:lnSpc>
              </a:pPr>
              <a:r>
                <a:rPr lang="en-US" sz="254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North Se</a:t>
              </a:r>
              <a:r>
                <a:rPr lang="en-US" sz="2540" strike="noStrike" u="none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a has the best on-time delivery at 88.4%. West Africa (82%) and Middle East (82.3%) are more than 6 points behind. Find out what North Sea is doing right and apply it to every other region.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71500" y="400828"/>
            <a:ext cx="1714500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4200" spc="-12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EXECUTIVE SUMMARY AND STRATEGIC RECOMMENDATIONS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8000" y="1285002"/>
            <a:ext cx="15899974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  <a:spcBef>
                <a:spcPct val="0"/>
              </a:spcBef>
            </a:pPr>
            <a:r>
              <a:rPr lang="en-US" sz="3099" spc="-9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PetroGlobal main</a:t>
            </a:r>
            <a:r>
              <a:rPr lang="en-US" sz="3099" spc="-9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tains strong vendor quality and safety performance, but delivery reliability requires improvement, indicating operational rather than vendor-related challenges.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2839576"/>
            <a:ext cx="662171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Improve on-time delivery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194532"/>
            <a:ext cx="16954500" cy="173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99"/>
              </a:lnSpc>
            </a:pPr>
            <a:r>
              <a:rPr lang="en-US" sz="12999" spc="-389">
                <a:solidFill>
                  <a:srgbClr val="1F3864"/>
                </a:solidFill>
                <a:latin typeface="DM Sans"/>
                <a:ea typeface="DM Sans"/>
                <a:cs typeface="DM Sans"/>
                <a:sym typeface="DM San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DAHCbCscSqU</dc:identifier>
  <dcterms:modified xsi:type="dcterms:W3CDTF">2011-08-01T06:04:30Z</dcterms:modified>
  <cp:revision>1</cp:revision>
  <dc:title>DATA QUALITY ASSESSMENT [Autosaved].pptx</dc:title>
</cp:coreProperties>
</file>